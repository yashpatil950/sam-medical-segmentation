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" charset="1" panose="020B0500040000020004"/>
      <p:regular r:id="rId17"/>
    </p:embeddedFont>
    <p:embeddedFont>
      <p:font typeface="Inter Italics" charset="1" panose="020B0502030000000004"/>
      <p:regular r:id="rId18"/>
    </p:embeddedFont>
    <p:embeddedFont>
      <p:font typeface="Montserrat Bold" charset="1" panose="00000800000000000000"/>
      <p:regular r:id="rId19"/>
    </p:embeddedFont>
    <p:embeddedFont>
      <p:font typeface="Inter" charset="1" panose="020B0502030000000004"/>
      <p:regular r:id="rId20"/>
    </p:embeddedFont>
    <p:embeddedFont>
      <p:font typeface="Arial MT Pro Bold" charset="1" panose="020B0802020202020204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  <p:embeddedFont>
      <p:font typeface="Arial MT Pro" charset="1" panose="020B0502020202020204"/>
      <p:regular r:id="rId24"/>
    </p:embeddedFont>
    <p:embeddedFont>
      <p:font typeface="Finger Paint" charset="1" panose="020B050604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22300" y="-1015598"/>
            <a:ext cx="18255991" cy="17857679"/>
          </a:xfrm>
          <a:custGeom>
            <a:avLst/>
            <a:gdLst/>
            <a:ahLst/>
            <a:cxnLst/>
            <a:rect r="r" b="b" t="t" l="l"/>
            <a:pathLst>
              <a:path h="17857679" w="18255991">
                <a:moveTo>
                  <a:pt x="0" y="0"/>
                </a:moveTo>
                <a:lnTo>
                  <a:pt x="18255991" y="0"/>
                </a:lnTo>
                <a:lnTo>
                  <a:pt x="18255991" y="17857679"/>
                </a:lnTo>
                <a:lnTo>
                  <a:pt x="0" y="17857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2379" y="3274484"/>
            <a:ext cx="15494513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00"/>
              </a:lnSpc>
              <a:spcBef>
                <a:spcPct val="0"/>
              </a:spcBef>
            </a:pPr>
            <a:r>
              <a:rPr lang="en-US" sz="15000" spc="-5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SAM3 in </a:t>
            </a:r>
            <a:r>
              <a:rPr lang="en-US" sz="15000" spc="-525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Medical</a:t>
            </a:r>
            <a:r>
              <a:rPr lang="en-US" sz="15000" spc="-525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Imaging: </a:t>
            </a:r>
          </a:p>
          <a:p>
            <a:pPr algn="l" marL="0" indent="0" lvl="0">
              <a:lnSpc>
                <a:spcPts val="120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178400" y="7998884"/>
            <a:ext cx="5280260" cy="110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3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Taher Mustansir Bhurka (938005585) Jeet Ashokbhai Patel (138008847) </a:t>
            </a:r>
          </a:p>
          <a:p>
            <a:pPr algn="l">
              <a:lnSpc>
                <a:spcPts val="2982"/>
              </a:lnSpc>
              <a:spcBef>
                <a:spcPct val="0"/>
              </a:spcBef>
            </a:pPr>
            <a:r>
              <a:rPr lang="en-US" sz="213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Yash Vijay Patil (738001186)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117" y="510412"/>
            <a:ext cx="5059578" cy="44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  <a:spcBef>
                <a:spcPct val="0"/>
              </a:spcBef>
            </a:pPr>
            <a:r>
              <a:rPr lang="en-US" sz="263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CSCE-625 Artificial 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44040" y="504544"/>
            <a:ext cx="1743200" cy="19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Texas A&amp;M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2379" y="6276221"/>
            <a:ext cx="13030438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spc="-24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Optimizing Prompts for Skin Lesions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109" y="0"/>
            <a:ext cx="18558140" cy="10203179"/>
            <a:chOff x="0" y="0"/>
            <a:chExt cx="4887741" cy="2687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741" cy="2687257"/>
            </a:xfrm>
            <a:custGeom>
              <a:avLst/>
              <a:gdLst/>
              <a:ahLst/>
              <a:cxnLst/>
              <a:rect r="r" b="b" t="t" l="l"/>
              <a:pathLst>
                <a:path h="2687257" w="4887741">
                  <a:moveTo>
                    <a:pt x="0" y="0"/>
                  </a:moveTo>
                  <a:lnTo>
                    <a:pt x="4887741" y="0"/>
                  </a:lnTo>
                  <a:lnTo>
                    <a:pt x="4887741" y="2687257"/>
                  </a:lnTo>
                  <a:lnTo>
                    <a:pt x="0" y="2687257"/>
                  </a:lnTo>
                  <a:close/>
                </a:path>
              </a:pathLst>
            </a:custGeom>
            <a:gradFill rotWithShape="true">
              <a:gsLst>
                <a:gs pos="0">
                  <a:srgbClr val="5671F3">
                    <a:alpha val="47000"/>
                  </a:srgbClr>
                </a:gs>
                <a:gs pos="100000">
                  <a:srgbClr val="4A49FD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87741" cy="2734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19299" y="1895607"/>
            <a:ext cx="6716860" cy="6716860"/>
          </a:xfrm>
          <a:custGeom>
            <a:avLst/>
            <a:gdLst/>
            <a:ahLst/>
            <a:cxnLst/>
            <a:rect r="r" b="b" t="t" l="l"/>
            <a:pathLst>
              <a:path h="6716860" w="6716860">
                <a:moveTo>
                  <a:pt x="0" y="0"/>
                </a:moveTo>
                <a:lnTo>
                  <a:pt x="6716860" y="0"/>
                </a:lnTo>
                <a:lnTo>
                  <a:pt x="671686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0790" y="3507831"/>
            <a:ext cx="7103660" cy="584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1"/>
              </a:lnSpc>
            </a:pP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Clinical Need &amp; The Domain Gap</a:t>
            </a:r>
          </a:p>
          <a:p>
            <a:pPr algn="just" marL="422837" indent="-211418" lvl="1">
              <a:lnSpc>
                <a:spcPts val="2741"/>
              </a:lnSpc>
              <a:buFont typeface="Arial"/>
              <a:buChar char="•"/>
            </a:pP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High Co</a:t>
            </a: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st of Manual Annotation: Precise skin lesion segmentation is critical for clinical AI but requires significant, time-consuming expert input.</a:t>
            </a:r>
          </a:p>
          <a:p>
            <a:pPr algn="just" marL="422837" indent="-211418" lvl="1">
              <a:lnSpc>
                <a:spcPts val="2741"/>
              </a:lnSpc>
              <a:spcBef>
                <a:spcPct val="0"/>
              </a:spcBef>
              <a:buFont typeface="Arial"/>
              <a:buChar char="•"/>
            </a:pP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Domain Gap: Foundation models (SAM-2/SAM-3) off</a:t>
            </a: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er fast, prompt-driven segmentation, but their heavy reliance on natural training images creates severe accuracy drops on complex medical data out-of-the-box.</a:t>
            </a:r>
          </a:p>
          <a:p>
            <a:pPr algn="just">
              <a:lnSpc>
                <a:spcPts val="2741"/>
              </a:lnSpc>
              <a:spcBef>
                <a:spcPct val="0"/>
              </a:spcBef>
            </a:pP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Core Questions Addressed</a:t>
            </a:r>
          </a:p>
          <a:p>
            <a:pPr algn="just" marL="422837" indent="-211418" lvl="1">
              <a:lnSpc>
                <a:spcPts val="2741"/>
              </a:lnSpc>
              <a:spcBef>
                <a:spcPct val="0"/>
              </a:spcBef>
              <a:buAutoNum type="arabicPeriod" startAt="1"/>
            </a:pP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Which zero-shot prompting strategy (point, box, text, or auto) produces the most accurate baseline segmentation for skin lesions?</a:t>
            </a:r>
          </a:p>
          <a:p>
            <a:pPr algn="just" marL="422837" indent="-211418" lvl="1">
              <a:lnSpc>
                <a:spcPts val="2741"/>
              </a:lnSpc>
              <a:spcBef>
                <a:spcPct val="0"/>
              </a:spcBef>
              <a:buAutoNum type="arabicPeriod" startAt="1"/>
            </a:pPr>
            <a:r>
              <a:rPr lang="en-US" sz="195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Can lightweight, targeted fine-tuning of the mask decoder successfully bridge the medical domain gap and transform SAM-3 into a highly accurate clinical tool?</a:t>
            </a:r>
          </a:p>
          <a:p>
            <a:pPr algn="just">
              <a:lnSpc>
                <a:spcPts val="274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10790" y="818510"/>
            <a:ext cx="8433210" cy="236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48"/>
              </a:lnSpc>
            </a:pPr>
            <a:r>
              <a:rPr lang="en-US" sz="9425" spc="-32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1759" y="934722"/>
            <a:ext cx="9724481" cy="97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74"/>
              </a:lnSpc>
            </a:pPr>
            <a:r>
              <a:rPr lang="en-US" sz="7473" spc="-2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&amp; Setup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3865" y="6325637"/>
            <a:ext cx="19285264" cy="18864494"/>
          </a:xfrm>
          <a:custGeom>
            <a:avLst/>
            <a:gdLst/>
            <a:ahLst/>
            <a:cxnLst/>
            <a:rect r="r" b="b" t="t" l="l"/>
            <a:pathLst>
              <a:path h="18864494" w="19285264">
                <a:moveTo>
                  <a:pt x="0" y="0"/>
                </a:moveTo>
                <a:lnTo>
                  <a:pt x="19285264" y="0"/>
                </a:lnTo>
                <a:lnTo>
                  <a:pt x="19285264" y="18864494"/>
                </a:lnTo>
                <a:lnTo>
                  <a:pt x="0" y="18864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94834">
            <a:off x="-9419850" y="-14169310"/>
            <a:ext cx="19285264" cy="18864494"/>
          </a:xfrm>
          <a:custGeom>
            <a:avLst/>
            <a:gdLst/>
            <a:ahLst/>
            <a:cxnLst/>
            <a:rect r="r" b="b" t="t" l="l"/>
            <a:pathLst>
              <a:path h="18864494" w="19285264">
                <a:moveTo>
                  <a:pt x="0" y="0"/>
                </a:moveTo>
                <a:lnTo>
                  <a:pt x="19285263" y="0"/>
                </a:lnTo>
                <a:lnTo>
                  <a:pt x="19285263" y="18864494"/>
                </a:lnTo>
                <a:lnTo>
                  <a:pt x="0" y="18864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970440"/>
            <a:ext cx="16184881" cy="223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  <a:spcBef>
                <a:spcPct val="0"/>
              </a:spcBef>
            </a:pPr>
            <a:r>
              <a:rPr lang="en-US" sz="25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Data: ISIC 2018 (Skin Lesion Segmentation)</a:t>
            </a:r>
          </a:p>
          <a:p>
            <a:pPr algn="l">
              <a:lnSpc>
                <a:spcPts val="3542"/>
              </a:lnSpc>
            </a:pP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Volume: 1,000 dermoscopy images with ground truth masks.</a:t>
            </a: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Preprocessing: Standardized and resized to 1024×1024 strictly for SAM-3 vision encoder compatibility.</a:t>
            </a: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Split: 800 Training images /  200 Testing images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72154"/>
            <a:ext cx="13816965" cy="178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  <a:spcBef>
                <a:spcPct val="0"/>
              </a:spcBef>
            </a:pPr>
            <a:r>
              <a:rPr lang="en-US" sz="25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Hardware &amp; Optimization Pipeline</a:t>
            </a:r>
          </a:p>
          <a:p>
            <a:pPr algn="l">
              <a:lnSpc>
                <a:spcPts val="3542"/>
              </a:lnSpc>
              <a:spcBef>
                <a:spcPct val="0"/>
              </a:spcBef>
            </a:pP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Prototyping: Validated the baseline and code logic on an NVIDIA T4 (Google Colab Pro).</a:t>
            </a: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Fine-Tuning: Executed full training on an NVIDIA A100 (TAMU HPRC)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9592" y="2143768"/>
            <a:ext cx="11787087" cy="743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SAM2 and SAM3 are </a:t>
            </a: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state-of-the-art for natural</a:t>
            </a: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 image segmentation but lack semantic understanding of medical domains out-of-the-box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No prior work benchmarks SAM3 specifically on dermoscopic lesion segmentation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We evaluated Meta’s out-of-the-box SAM-2 and SAM-3 on 1000 images to establish a rigorous starting point and justify our fine-tuning approach.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What we Observed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Bounding-box prompts achieved reasonable baseline accuracy (0.65 Dice), but struggled on massive lesions.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Both models completely failed to understand single-point prompts.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SAM-3 exhibited a 93% failure rate (0.10 Dice score) on point prompts, proving the baseline model fundamentally lacks the semantic concept of a "skin lesion."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919464" y="1800750"/>
            <a:ext cx="3557417" cy="3569395"/>
          </a:xfrm>
          <a:custGeom>
            <a:avLst/>
            <a:gdLst/>
            <a:ahLst/>
            <a:cxnLst/>
            <a:rect r="r" b="b" t="t" l="l"/>
            <a:pathLst>
              <a:path h="3569395" w="3557417">
                <a:moveTo>
                  <a:pt x="0" y="0"/>
                </a:moveTo>
                <a:lnTo>
                  <a:pt x="3557417" y="0"/>
                </a:lnTo>
                <a:lnTo>
                  <a:pt x="3557417" y="3569395"/>
                </a:lnTo>
                <a:lnTo>
                  <a:pt x="0" y="3569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9464" y="5529736"/>
            <a:ext cx="3557417" cy="3728564"/>
          </a:xfrm>
          <a:custGeom>
            <a:avLst/>
            <a:gdLst/>
            <a:ahLst/>
            <a:cxnLst/>
            <a:rect r="r" b="b" t="t" l="l"/>
            <a:pathLst>
              <a:path h="3728564" w="3557417">
                <a:moveTo>
                  <a:pt x="0" y="0"/>
                </a:moveTo>
                <a:lnTo>
                  <a:pt x="3557417" y="0"/>
                </a:lnTo>
                <a:lnTo>
                  <a:pt x="3557417" y="3728564"/>
                </a:lnTo>
                <a:lnTo>
                  <a:pt x="0" y="3728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5334" y="580007"/>
            <a:ext cx="13438726" cy="122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48"/>
              </a:lnSpc>
            </a:pPr>
            <a:r>
              <a:rPr lang="en-US" sz="9425" spc="-32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Baseline and Related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631221" y="5529736"/>
            <a:ext cx="19285264" cy="18864494"/>
          </a:xfrm>
          <a:custGeom>
            <a:avLst/>
            <a:gdLst/>
            <a:ahLst/>
            <a:cxnLst/>
            <a:rect r="r" b="b" t="t" l="l"/>
            <a:pathLst>
              <a:path h="18864494" w="19285264">
                <a:moveTo>
                  <a:pt x="0" y="0"/>
                </a:moveTo>
                <a:lnTo>
                  <a:pt x="19285263" y="0"/>
                </a:lnTo>
                <a:lnTo>
                  <a:pt x="19285263" y="18864494"/>
                </a:lnTo>
                <a:lnTo>
                  <a:pt x="0" y="18864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49644" y="41896"/>
            <a:ext cx="18255991" cy="17857679"/>
          </a:xfrm>
          <a:custGeom>
            <a:avLst/>
            <a:gdLst/>
            <a:ahLst/>
            <a:cxnLst/>
            <a:rect r="r" b="b" t="t" l="l"/>
            <a:pathLst>
              <a:path h="17857679" w="18255991">
                <a:moveTo>
                  <a:pt x="0" y="0"/>
                </a:moveTo>
                <a:lnTo>
                  <a:pt x="18255991" y="0"/>
                </a:lnTo>
                <a:lnTo>
                  <a:pt x="18255991" y="17857679"/>
                </a:lnTo>
                <a:lnTo>
                  <a:pt x="0" y="17857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35332" y="4526958"/>
            <a:ext cx="3573063" cy="5196273"/>
            <a:chOff x="0" y="0"/>
            <a:chExt cx="941054" cy="1368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1054" cy="1368566"/>
            </a:xfrm>
            <a:custGeom>
              <a:avLst/>
              <a:gdLst/>
              <a:ahLst/>
              <a:cxnLst/>
              <a:rect r="r" b="b" t="t" l="l"/>
              <a:pathLst>
                <a:path h="1368566" w="941054">
                  <a:moveTo>
                    <a:pt x="43335" y="0"/>
                  </a:moveTo>
                  <a:lnTo>
                    <a:pt x="897719" y="0"/>
                  </a:lnTo>
                  <a:cubicBezTo>
                    <a:pt x="909212" y="0"/>
                    <a:pt x="920234" y="4566"/>
                    <a:pt x="928361" y="12693"/>
                  </a:cubicBezTo>
                  <a:cubicBezTo>
                    <a:pt x="936488" y="20819"/>
                    <a:pt x="941054" y="31842"/>
                    <a:pt x="941054" y="43335"/>
                  </a:cubicBezTo>
                  <a:lnTo>
                    <a:pt x="941054" y="1325231"/>
                  </a:lnTo>
                  <a:cubicBezTo>
                    <a:pt x="941054" y="1349164"/>
                    <a:pt x="921652" y="1368566"/>
                    <a:pt x="897719" y="1368566"/>
                  </a:cubicBezTo>
                  <a:lnTo>
                    <a:pt x="43335" y="1368566"/>
                  </a:lnTo>
                  <a:cubicBezTo>
                    <a:pt x="19402" y="1368566"/>
                    <a:pt x="0" y="1349164"/>
                    <a:pt x="0" y="1325231"/>
                  </a:cubicBezTo>
                  <a:lnTo>
                    <a:pt x="0" y="43335"/>
                  </a:lnTo>
                  <a:cubicBezTo>
                    <a:pt x="0" y="19402"/>
                    <a:pt x="19402" y="0"/>
                    <a:pt x="43335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941054" cy="1339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  <a:r>
                <a:rPr lang="en-US" b="true" sz="2576" spc="-41">
                  <a:solidFill>
                    <a:srgbClr val="FFFFFF">
                      <a:alpha val="37647"/>
                    </a:srgbClr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Image Encod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32440" y="5698310"/>
            <a:ext cx="2578847" cy="752735"/>
            <a:chOff x="0" y="0"/>
            <a:chExt cx="679202" cy="198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9202" cy="198251"/>
            </a:xfrm>
            <a:custGeom>
              <a:avLst/>
              <a:gdLst/>
              <a:ahLst/>
              <a:cxnLst/>
              <a:rect r="r" b="b" t="t" l="l"/>
              <a:pathLst>
                <a:path h="198251" w="679202">
                  <a:moveTo>
                    <a:pt x="60042" y="0"/>
                  </a:moveTo>
                  <a:lnTo>
                    <a:pt x="619161" y="0"/>
                  </a:lnTo>
                  <a:cubicBezTo>
                    <a:pt x="635085" y="0"/>
                    <a:pt x="650357" y="6326"/>
                    <a:pt x="661617" y="17586"/>
                  </a:cubicBezTo>
                  <a:cubicBezTo>
                    <a:pt x="672877" y="28846"/>
                    <a:pt x="679202" y="44118"/>
                    <a:pt x="679202" y="60042"/>
                  </a:cubicBezTo>
                  <a:lnTo>
                    <a:pt x="679202" y="138210"/>
                  </a:lnTo>
                  <a:cubicBezTo>
                    <a:pt x="679202" y="171370"/>
                    <a:pt x="652321" y="198251"/>
                    <a:pt x="619161" y="198251"/>
                  </a:cubicBezTo>
                  <a:lnTo>
                    <a:pt x="60042" y="198251"/>
                  </a:lnTo>
                  <a:cubicBezTo>
                    <a:pt x="44118" y="198251"/>
                    <a:pt x="28846" y="191925"/>
                    <a:pt x="17586" y="180665"/>
                  </a:cubicBezTo>
                  <a:cubicBezTo>
                    <a:pt x="6326" y="169405"/>
                    <a:pt x="0" y="154134"/>
                    <a:pt x="0" y="138210"/>
                  </a:cubicBezTo>
                  <a:lnTo>
                    <a:pt x="0" y="60042"/>
                  </a:lnTo>
                  <a:cubicBezTo>
                    <a:pt x="0" y="44118"/>
                    <a:pt x="6326" y="28846"/>
                    <a:pt x="17586" y="17586"/>
                  </a:cubicBezTo>
                  <a:cubicBezTo>
                    <a:pt x="28846" y="6326"/>
                    <a:pt x="44118" y="0"/>
                    <a:pt x="60042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679202" cy="16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32440" y="6545826"/>
            <a:ext cx="2578847" cy="752735"/>
            <a:chOff x="0" y="0"/>
            <a:chExt cx="679202" cy="198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9202" cy="198251"/>
            </a:xfrm>
            <a:custGeom>
              <a:avLst/>
              <a:gdLst/>
              <a:ahLst/>
              <a:cxnLst/>
              <a:rect r="r" b="b" t="t" l="l"/>
              <a:pathLst>
                <a:path h="198251" w="679202">
                  <a:moveTo>
                    <a:pt x="60042" y="0"/>
                  </a:moveTo>
                  <a:lnTo>
                    <a:pt x="619161" y="0"/>
                  </a:lnTo>
                  <a:cubicBezTo>
                    <a:pt x="635085" y="0"/>
                    <a:pt x="650357" y="6326"/>
                    <a:pt x="661617" y="17586"/>
                  </a:cubicBezTo>
                  <a:cubicBezTo>
                    <a:pt x="672877" y="28846"/>
                    <a:pt x="679202" y="44118"/>
                    <a:pt x="679202" y="60042"/>
                  </a:cubicBezTo>
                  <a:lnTo>
                    <a:pt x="679202" y="138210"/>
                  </a:lnTo>
                  <a:cubicBezTo>
                    <a:pt x="679202" y="171370"/>
                    <a:pt x="652321" y="198251"/>
                    <a:pt x="619161" y="198251"/>
                  </a:cubicBezTo>
                  <a:lnTo>
                    <a:pt x="60042" y="198251"/>
                  </a:lnTo>
                  <a:cubicBezTo>
                    <a:pt x="44118" y="198251"/>
                    <a:pt x="28846" y="191925"/>
                    <a:pt x="17586" y="180665"/>
                  </a:cubicBezTo>
                  <a:cubicBezTo>
                    <a:pt x="6326" y="169405"/>
                    <a:pt x="0" y="154134"/>
                    <a:pt x="0" y="138210"/>
                  </a:cubicBezTo>
                  <a:lnTo>
                    <a:pt x="0" y="60042"/>
                  </a:lnTo>
                  <a:cubicBezTo>
                    <a:pt x="0" y="44118"/>
                    <a:pt x="6326" y="28846"/>
                    <a:pt x="17586" y="17586"/>
                  </a:cubicBezTo>
                  <a:cubicBezTo>
                    <a:pt x="28846" y="6326"/>
                    <a:pt x="44118" y="0"/>
                    <a:pt x="60042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679202" cy="16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32440" y="7393811"/>
            <a:ext cx="2578847" cy="752735"/>
            <a:chOff x="0" y="0"/>
            <a:chExt cx="679202" cy="1982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9202" cy="198251"/>
            </a:xfrm>
            <a:custGeom>
              <a:avLst/>
              <a:gdLst/>
              <a:ahLst/>
              <a:cxnLst/>
              <a:rect r="r" b="b" t="t" l="l"/>
              <a:pathLst>
                <a:path h="198251" w="679202">
                  <a:moveTo>
                    <a:pt x="60042" y="0"/>
                  </a:moveTo>
                  <a:lnTo>
                    <a:pt x="619161" y="0"/>
                  </a:lnTo>
                  <a:cubicBezTo>
                    <a:pt x="635085" y="0"/>
                    <a:pt x="650357" y="6326"/>
                    <a:pt x="661617" y="17586"/>
                  </a:cubicBezTo>
                  <a:cubicBezTo>
                    <a:pt x="672877" y="28846"/>
                    <a:pt x="679202" y="44118"/>
                    <a:pt x="679202" y="60042"/>
                  </a:cubicBezTo>
                  <a:lnTo>
                    <a:pt x="679202" y="138210"/>
                  </a:lnTo>
                  <a:cubicBezTo>
                    <a:pt x="679202" y="171370"/>
                    <a:pt x="652321" y="198251"/>
                    <a:pt x="619161" y="198251"/>
                  </a:cubicBezTo>
                  <a:lnTo>
                    <a:pt x="60042" y="198251"/>
                  </a:lnTo>
                  <a:cubicBezTo>
                    <a:pt x="44118" y="198251"/>
                    <a:pt x="28846" y="191925"/>
                    <a:pt x="17586" y="180665"/>
                  </a:cubicBezTo>
                  <a:cubicBezTo>
                    <a:pt x="6326" y="169405"/>
                    <a:pt x="0" y="154134"/>
                    <a:pt x="0" y="138210"/>
                  </a:cubicBezTo>
                  <a:lnTo>
                    <a:pt x="0" y="60042"/>
                  </a:lnTo>
                  <a:cubicBezTo>
                    <a:pt x="0" y="44118"/>
                    <a:pt x="6326" y="28846"/>
                    <a:pt x="17586" y="17586"/>
                  </a:cubicBezTo>
                  <a:cubicBezTo>
                    <a:pt x="28846" y="6326"/>
                    <a:pt x="44118" y="0"/>
                    <a:pt x="60042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679202" cy="16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32440" y="8564694"/>
            <a:ext cx="2578847" cy="752735"/>
            <a:chOff x="0" y="0"/>
            <a:chExt cx="679202" cy="1982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9202" cy="198251"/>
            </a:xfrm>
            <a:custGeom>
              <a:avLst/>
              <a:gdLst/>
              <a:ahLst/>
              <a:cxnLst/>
              <a:rect r="r" b="b" t="t" l="l"/>
              <a:pathLst>
                <a:path h="198251" w="679202">
                  <a:moveTo>
                    <a:pt x="60042" y="0"/>
                  </a:moveTo>
                  <a:lnTo>
                    <a:pt x="619161" y="0"/>
                  </a:lnTo>
                  <a:cubicBezTo>
                    <a:pt x="635085" y="0"/>
                    <a:pt x="650357" y="6326"/>
                    <a:pt x="661617" y="17586"/>
                  </a:cubicBezTo>
                  <a:cubicBezTo>
                    <a:pt x="672877" y="28846"/>
                    <a:pt x="679202" y="44118"/>
                    <a:pt x="679202" y="60042"/>
                  </a:cubicBezTo>
                  <a:lnTo>
                    <a:pt x="679202" y="138210"/>
                  </a:lnTo>
                  <a:cubicBezTo>
                    <a:pt x="679202" y="171370"/>
                    <a:pt x="652321" y="198251"/>
                    <a:pt x="619161" y="198251"/>
                  </a:cubicBezTo>
                  <a:lnTo>
                    <a:pt x="60042" y="198251"/>
                  </a:lnTo>
                  <a:cubicBezTo>
                    <a:pt x="44118" y="198251"/>
                    <a:pt x="28846" y="191925"/>
                    <a:pt x="17586" y="180665"/>
                  </a:cubicBezTo>
                  <a:cubicBezTo>
                    <a:pt x="6326" y="169405"/>
                    <a:pt x="0" y="154134"/>
                    <a:pt x="0" y="138210"/>
                  </a:cubicBezTo>
                  <a:lnTo>
                    <a:pt x="0" y="60042"/>
                  </a:lnTo>
                  <a:cubicBezTo>
                    <a:pt x="0" y="44118"/>
                    <a:pt x="6326" y="28846"/>
                    <a:pt x="17586" y="17586"/>
                  </a:cubicBezTo>
                  <a:cubicBezTo>
                    <a:pt x="28846" y="6326"/>
                    <a:pt x="44118" y="0"/>
                    <a:pt x="60042" y="0"/>
                  </a:cubicBezTo>
                  <a:close/>
                </a:path>
              </a:pathLst>
            </a:custGeom>
            <a:solidFill>
              <a:srgbClr val="FF3131">
                <a:alpha val="37647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679202" cy="16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44307" y="4526958"/>
            <a:ext cx="3573063" cy="1706787"/>
            <a:chOff x="0" y="0"/>
            <a:chExt cx="941054" cy="4495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1054" cy="449524"/>
            </a:xfrm>
            <a:custGeom>
              <a:avLst/>
              <a:gdLst/>
              <a:ahLst/>
              <a:cxnLst/>
              <a:rect r="r" b="b" t="t" l="l"/>
              <a:pathLst>
                <a:path h="449524" w="941054">
                  <a:moveTo>
                    <a:pt x="43335" y="0"/>
                  </a:moveTo>
                  <a:lnTo>
                    <a:pt x="897719" y="0"/>
                  </a:lnTo>
                  <a:cubicBezTo>
                    <a:pt x="909212" y="0"/>
                    <a:pt x="920234" y="4566"/>
                    <a:pt x="928361" y="12693"/>
                  </a:cubicBezTo>
                  <a:cubicBezTo>
                    <a:pt x="936488" y="20819"/>
                    <a:pt x="941054" y="31842"/>
                    <a:pt x="941054" y="43335"/>
                  </a:cubicBezTo>
                  <a:lnTo>
                    <a:pt x="941054" y="406189"/>
                  </a:lnTo>
                  <a:cubicBezTo>
                    <a:pt x="941054" y="430122"/>
                    <a:pt x="921652" y="449524"/>
                    <a:pt x="897719" y="449524"/>
                  </a:cubicBezTo>
                  <a:lnTo>
                    <a:pt x="43335" y="449524"/>
                  </a:lnTo>
                  <a:cubicBezTo>
                    <a:pt x="19402" y="449524"/>
                    <a:pt x="0" y="430122"/>
                    <a:pt x="0" y="406189"/>
                  </a:cubicBezTo>
                  <a:lnTo>
                    <a:pt x="0" y="43335"/>
                  </a:lnTo>
                  <a:cubicBezTo>
                    <a:pt x="0" y="19402"/>
                    <a:pt x="19402" y="0"/>
                    <a:pt x="43335" y="0"/>
                  </a:cubicBezTo>
                  <a:close/>
                </a:path>
              </a:pathLst>
            </a:custGeom>
            <a:solidFill>
              <a:srgbClr val="4A7FF7">
                <a:alpha val="37647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941054" cy="420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44307" y="6471336"/>
            <a:ext cx="3573063" cy="3148187"/>
            <a:chOff x="0" y="0"/>
            <a:chExt cx="941054" cy="8291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1054" cy="829152"/>
            </a:xfrm>
            <a:custGeom>
              <a:avLst/>
              <a:gdLst/>
              <a:ahLst/>
              <a:cxnLst/>
              <a:rect r="r" b="b" t="t" l="l"/>
              <a:pathLst>
                <a:path h="829152" w="941054">
                  <a:moveTo>
                    <a:pt x="43335" y="0"/>
                  </a:moveTo>
                  <a:lnTo>
                    <a:pt x="897719" y="0"/>
                  </a:lnTo>
                  <a:cubicBezTo>
                    <a:pt x="909212" y="0"/>
                    <a:pt x="920234" y="4566"/>
                    <a:pt x="928361" y="12693"/>
                  </a:cubicBezTo>
                  <a:cubicBezTo>
                    <a:pt x="936488" y="20819"/>
                    <a:pt x="941054" y="31842"/>
                    <a:pt x="941054" y="43335"/>
                  </a:cubicBezTo>
                  <a:lnTo>
                    <a:pt x="941054" y="785817"/>
                  </a:lnTo>
                  <a:cubicBezTo>
                    <a:pt x="941054" y="809750"/>
                    <a:pt x="921652" y="829152"/>
                    <a:pt x="897719" y="829152"/>
                  </a:cubicBezTo>
                  <a:lnTo>
                    <a:pt x="43335" y="829152"/>
                  </a:lnTo>
                  <a:cubicBezTo>
                    <a:pt x="19402" y="829152"/>
                    <a:pt x="0" y="809750"/>
                    <a:pt x="0" y="785817"/>
                  </a:cubicBezTo>
                  <a:lnTo>
                    <a:pt x="0" y="43335"/>
                  </a:lnTo>
                  <a:cubicBezTo>
                    <a:pt x="0" y="19402"/>
                    <a:pt x="19402" y="0"/>
                    <a:pt x="43335" y="0"/>
                  </a:cubicBezTo>
                  <a:close/>
                </a:path>
              </a:pathLst>
            </a:custGeom>
            <a:solidFill>
              <a:srgbClr val="9EFF1F">
                <a:alpha val="3764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941054" cy="800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96756" y="7669061"/>
            <a:ext cx="2578847" cy="837468"/>
            <a:chOff x="0" y="0"/>
            <a:chExt cx="679202" cy="2205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9202" cy="220568"/>
            </a:xfrm>
            <a:custGeom>
              <a:avLst/>
              <a:gdLst/>
              <a:ahLst/>
              <a:cxnLst/>
              <a:rect r="r" b="b" t="t" l="l"/>
              <a:pathLst>
                <a:path h="220568" w="679202">
                  <a:moveTo>
                    <a:pt x="60042" y="0"/>
                  </a:moveTo>
                  <a:lnTo>
                    <a:pt x="619161" y="0"/>
                  </a:lnTo>
                  <a:cubicBezTo>
                    <a:pt x="635085" y="0"/>
                    <a:pt x="650357" y="6326"/>
                    <a:pt x="661617" y="17586"/>
                  </a:cubicBezTo>
                  <a:cubicBezTo>
                    <a:pt x="672877" y="28846"/>
                    <a:pt x="679202" y="44118"/>
                    <a:pt x="679202" y="60042"/>
                  </a:cubicBezTo>
                  <a:lnTo>
                    <a:pt x="679202" y="160526"/>
                  </a:lnTo>
                  <a:cubicBezTo>
                    <a:pt x="679202" y="176450"/>
                    <a:pt x="672877" y="191722"/>
                    <a:pt x="661617" y="202982"/>
                  </a:cubicBezTo>
                  <a:cubicBezTo>
                    <a:pt x="650357" y="214242"/>
                    <a:pt x="635085" y="220568"/>
                    <a:pt x="619161" y="220568"/>
                  </a:cubicBezTo>
                  <a:lnTo>
                    <a:pt x="60042" y="220568"/>
                  </a:lnTo>
                  <a:cubicBezTo>
                    <a:pt x="44118" y="220568"/>
                    <a:pt x="28846" y="214242"/>
                    <a:pt x="17586" y="202982"/>
                  </a:cubicBezTo>
                  <a:cubicBezTo>
                    <a:pt x="6326" y="191722"/>
                    <a:pt x="0" y="176450"/>
                    <a:pt x="0" y="160526"/>
                  </a:cubicBezTo>
                  <a:lnTo>
                    <a:pt x="0" y="60042"/>
                  </a:lnTo>
                  <a:cubicBezTo>
                    <a:pt x="0" y="44118"/>
                    <a:pt x="6326" y="28846"/>
                    <a:pt x="17586" y="17586"/>
                  </a:cubicBezTo>
                  <a:cubicBezTo>
                    <a:pt x="28846" y="6326"/>
                    <a:pt x="44118" y="0"/>
                    <a:pt x="60042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679202" cy="191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396756" y="8737227"/>
            <a:ext cx="2578847" cy="752735"/>
            <a:chOff x="0" y="0"/>
            <a:chExt cx="679202" cy="1982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9202" cy="198251"/>
            </a:xfrm>
            <a:custGeom>
              <a:avLst/>
              <a:gdLst/>
              <a:ahLst/>
              <a:cxnLst/>
              <a:rect r="r" b="b" t="t" l="l"/>
              <a:pathLst>
                <a:path h="198251" w="679202">
                  <a:moveTo>
                    <a:pt x="60042" y="0"/>
                  </a:moveTo>
                  <a:lnTo>
                    <a:pt x="619161" y="0"/>
                  </a:lnTo>
                  <a:cubicBezTo>
                    <a:pt x="635085" y="0"/>
                    <a:pt x="650357" y="6326"/>
                    <a:pt x="661617" y="17586"/>
                  </a:cubicBezTo>
                  <a:cubicBezTo>
                    <a:pt x="672877" y="28846"/>
                    <a:pt x="679202" y="44118"/>
                    <a:pt x="679202" y="60042"/>
                  </a:cubicBezTo>
                  <a:lnTo>
                    <a:pt x="679202" y="138210"/>
                  </a:lnTo>
                  <a:cubicBezTo>
                    <a:pt x="679202" y="171370"/>
                    <a:pt x="652321" y="198251"/>
                    <a:pt x="619161" y="198251"/>
                  </a:cubicBezTo>
                  <a:lnTo>
                    <a:pt x="60042" y="198251"/>
                  </a:lnTo>
                  <a:cubicBezTo>
                    <a:pt x="44118" y="198251"/>
                    <a:pt x="28846" y="191925"/>
                    <a:pt x="17586" y="180665"/>
                  </a:cubicBezTo>
                  <a:cubicBezTo>
                    <a:pt x="6326" y="169405"/>
                    <a:pt x="0" y="154134"/>
                    <a:pt x="0" y="138210"/>
                  </a:cubicBezTo>
                  <a:lnTo>
                    <a:pt x="0" y="60042"/>
                  </a:lnTo>
                  <a:cubicBezTo>
                    <a:pt x="0" y="44118"/>
                    <a:pt x="6326" y="28846"/>
                    <a:pt x="17586" y="17586"/>
                  </a:cubicBezTo>
                  <a:cubicBezTo>
                    <a:pt x="28846" y="6326"/>
                    <a:pt x="44118" y="0"/>
                    <a:pt x="60042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28575"/>
              <a:ext cx="679202" cy="16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6249465"/>
            <a:ext cx="2720878" cy="955637"/>
            <a:chOff x="0" y="0"/>
            <a:chExt cx="716610" cy="2516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6610" cy="251690"/>
            </a:xfrm>
            <a:custGeom>
              <a:avLst/>
              <a:gdLst/>
              <a:ahLst/>
              <a:cxnLst/>
              <a:rect r="r" b="b" t="t" l="l"/>
              <a:pathLst>
                <a:path h="251690" w="716610">
                  <a:moveTo>
                    <a:pt x="56908" y="0"/>
                  </a:moveTo>
                  <a:lnTo>
                    <a:pt x="659702" y="0"/>
                  </a:lnTo>
                  <a:cubicBezTo>
                    <a:pt x="674795" y="0"/>
                    <a:pt x="689270" y="5996"/>
                    <a:pt x="699942" y="16668"/>
                  </a:cubicBezTo>
                  <a:cubicBezTo>
                    <a:pt x="710614" y="27340"/>
                    <a:pt x="716610" y="41815"/>
                    <a:pt x="716610" y="56908"/>
                  </a:cubicBezTo>
                  <a:lnTo>
                    <a:pt x="716610" y="194783"/>
                  </a:lnTo>
                  <a:cubicBezTo>
                    <a:pt x="716610" y="226212"/>
                    <a:pt x="691131" y="251690"/>
                    <a:pt x="659702" y="251690"/>
                  </a:cubicBezTo>
                  <a:lnTo>
                    <a:pt x="56908" y="251690"/>
                  </a:lnTo>
                  <a:cubicBezTo>
                    <a:pt x="25478" y="251690"/>
                    <a:pt x="0" y="226212"/>
                    <a:pt x="0" y="194783"/>
                  </a:cubicBezTo>
                  <a:lnTo>
                    <a:pt x="0" y="56908"/>
                  </a:lnTo>
                  <a:cubicBezTo>
                    <a:pt x="0" y="25478"/>
                    <a:pt x="25478" y="0"/>
                    <a:pt x="56908" y="0"/>
                  </a:cubicBezTo>
                  <a:close/>
                </a:path>
              </a:pathLst>
            </a:custGeom>
            <a:solidFill>
              <a:srgbClr val="FFDE59">
                <a:alpha val="37647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716610" cy="223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951161" y="7821021"/>
            <a:ext cx="2720878" cy="955637"/>
            <a:chOff x="0" y="0"/>
            <a:chExt cx="716610" cy="2516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6610" cy="251690"/>
            </a:xfrm>
            <a:custGeom>
              <a:avLst/>
              <a:gdLst/>
              <a:ahLst/>
              <a:cxnLst/>
              <a:rect r="r" b="b" t="t" l="l"/>
              <a:pathLst>
                <a:path h="251690" w="716610">
                  <a:moveTo>
                    <a:pt x="56908" y="0"/>
                  </a:moveTo>
                  <a:lnTo>
                    <a:pt x="659702" y="0"/>
                  </a:lnTo>
                  <a:cubicBezTo>
                    <a:pt x="674795" y="0"/>
                    <a:pt x="689270" y="5996"/>
                    <a:pt x="699942" y="16668"/>
                  </a:cubicBezTo>
                  <a:cubicBezTo>
                    <a:pt x="710614" y="27340"/>
                    <a:pt x="716610" y="41815"/>
                    <a:pt x="716610" y="56908"/>
                  </a:cubicBezTo>
                  <a:lnTo>
                    <a:pt x="716610" y="194783"/>
                  </a:lnTo>
                  <a:cubicBezTo>
                    <a:pt x="716610" y="226212"/>
                    <a:pt x="691131" y="251690"/>
                    <a:pt x="659702" y="251690"/>
                  </a:cubicBezTo>
                  <a:lnTo>
                    <a:pt x="56908" y="251690"/>
                  </a:lnTo>
                  <a:cubicBezTo>
                    <a:pt x="25478" y="251690"/>
                    <a:pt x="0" y="226212"/>
                    <a:pt x="0" y="194783"/>
                  </a:cubicBezTo>
                  <a:lnTo>
                    <a:pt x="0" y="56908"/>
                  </a:lnTo>
                  <a:cubicBezTo>
                    <a:pt x="0" y="25478"/>
                    <a:pt x="25478" y="0"/>
                    <a:pt x="56908" y="0"/>
                  </a:cubicBezTo>
                  <a:close/>
                </a:path>
              </a:pathLst>
            </a:custGeom>
            <a:solidFill>
              <a:srgbClr val="5ACFBE">
                <a:alpha val="37647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28575"/>
              <a:ext cx="716610" cy="223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290211" y="7821021"/>
            <a:ext cx="572280" cy="162320"/>
          </a:xfrm>
          <a:custGeom>
            <a:avLst/>
            <a:gdLst/>
            <a:ahLst/>
            <a:cxnLst/>
            <a:rect r="r" b="b" t="t" l="l"/>
            <a:pathLst>
              <a:path h="162320" w="572280">
                <a:moveTo>
                  <a:pt x="0" y="0"/>
                </a:moveTo>
                <a:lnTo>
                  <a:pt x="572280" y="0"/>
                </a:lnTo>
                <a:lnTo>
                  <a:pt x="572280" y="162319"/>
                </a:lnTo>
                <a:lnTo>
                  <a:pt x="0" y="162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70148">
            <a:off x="11228142" y="6248312"/>
            <a:ext cx="572280" cy="162320"/>
          </a:xfrm>
          <a:custGeom>
            <a:avLst/>
            <a:gdLst/>
            <a:ahLst/>
            <a:cxnLst/>
            <a:rect r="r" b="b" t="t" l="l"/>
            <a:pathLst>
              <a:path h="162320" w="572280">
                <a:moveTo>
                  <a:pt x="0" y="0"/>
                </a:moveTo>
                <a:lnTo>
                  <a:pt x="572280" y="0"/>
                </a:lnTo>
                <a:lnTo>
                  <a:pt x="572280" y="162320"/>
                </a:lnTo>
                <a:lnTo>
                  <a:pt x="0" y="162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15961" y="2607602"/>
            <a:ext cx="4399503" cy="2415727"/>
          </a:xfrm>
          <a:custGeom>
            <a:avLst/>
            <a:gdLst/>
            <a:ahLst/>
            <a:cxnLst/>
            <a:rect r="r" b="b" t="t" l="l"/>
            <a:pathLst>
              <a:path h="2415727" w="4399503">
                <a:moveTo>
                  <a:pt x="0" y="0"/>
                </a:moveTo>
                <a:lnTo>
                  <a:pt x="4399503" y="0"/>
                </a:lnTo>
                <a:lnTo>
                  <a:pt x="4399503" y="2415727"/>
                </a:lnTo>
                <a:lnTo>
                  <a:pt x="0" y="24157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048382" y="6503749"/>
            <a:ext cx="1388146" cy="393729"/>
          </a:xfrm>
          <a:custGeom>
            <a:avLst/>
            <a:gdLst/>
            <a:ahLst/>
            <a:cxnLst/>
            <a:rect r="r" b="b" t="t" l="l"/>
            <a:pathLst>
              <a:path h="393729" w="1388146">
                <a:moveTo>
                  <a:pt x="0" y="0"/>
                </a:moveTo>
                <a:lnTo>
                  <a:pt x="1388146" y="0"/>
                </a:lnTo>
                <a:lnTo>
                  <a:pt x="1388146" y="393729"/>
                </a:lnTo>
                <a:lnTo>
                  <a:pt x="0" y="39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490192" y="8146547"/>
            <a:ext cx="1388146" cy="393729"/>
          </a:xfrm>
          <a:custGeom>
            <a:avLst/>
            <a:gdLst/>
            <a:ahLst/>
            <a:cxnLst/>
            <a:rect r="r" b="b" t="t" l="l"/>
            <a:pathLst>
              <a:path h="393729" w="1388146">
                <a:moveTo>
                  <a:pt x="0" y="0"/>
                </a:moveTo>
                <a:lnTo>
                  <a:pt x="1388146" y="0"/>
                </a:lnTo>
                <a:lnTo>
                  <a:pt x="1388146" y="393728"/>
                </a:lnTo>
                <a:lnTo>
                  <a:pt x="0" y="393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138610" y="2166822"/>
            <a:ext cx="3812550" cy="2093437"/>
          </a:xfrm>
          <a:custGeom>
            <a:avLst/>
            <a:gdLst/>
            <a:ahLst/>
            <a:cxnLst/>
            <a:rect r="r" b="b" t="t" l="l"/>
            <a:pathLst>
              <a:path h="2093437" w="3812550">
                <a:moveTo>
                  <a:pt x="0" y="0"/>
                </a:moveTo>
                <a:lnTo>
                  <a:pt x="3812551" y="0"/>
                </a:lnTo>
                <a:lnTo>
                  <a:pt x="3812551" y="2093436"/>
                </a:lnTo>
                <a:lnTo>
                  <a:pt x="0" y="20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015464" y="2743786"/>
            <a:ext cx="2028445" cy="1726023"/>
          </a:xfrm>
          <a:custGeom>
            <a:avLst/>
            <a:gdLst/>
            <a:ahLst/>
            <a:cxnLst/>
            <a:rect r="r" b="b" t="t" l="l"/>
            <a:pathLst>
              <a:path h="1726023" w="2028445">
                <a:moveTo>
                  <a:pt x="0" y="0"/>
                </a:moveTo>
                <a:lnTo>
                  <a:pt x="2028446" y="0"/>
                </a:lnTo>
                <a:lnTo>
                  <a:pt x="2028446" y="1726022"/>
                </a:lnTo>
                <a:lnTo>
                  <a:pt x="0" y="1726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6019771" y="4858760"/>
            <a:ext cx="300418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Encoder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670983" y="5877511"/>
            <a:ext cx="1701760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Patch Embed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76353" y="6557585"/>
            <a:ext cx="1491020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Transformer 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Blocks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65187" y="7589522"/>
            <a:ext cx="1113353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FPN Neck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970009" y="8680077"/>
            <a:ext cx="110370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Frozen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52096" y="5079695"/>
            <a:ext cx="2468166" cy="49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b="true" sz="2576" spc="-4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Prompt Encoder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505900" y="6595839"/>
            <a:ext cx="2400895" cy="91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b="true" sz="2576" spc="-4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Mask Decoder</a:t>
            </a:r>
          </a:p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sz="2376" spc="-3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Tracker + Decode</a:t>
            </a:r>
            <a:r>
              <a:rPr lang="en-US" b="true" sz="2376" spc="-38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57208" y="7702049"/>
            <a:ext cx="947261" cy="695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  <a:spcBef>
                <a:spcPct val="0"/>
              </a:spcBef>
            </a:pPr>
            <a:r>
              <a:rPr lang="en-US" sz="1876" spc="-3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Two way </a:t>
            </a:r>
          </a:p>
          <a:p>
            <a:pPr algn="ctr">
              <a:lnSpc>
                <a:spcPts val="2626"/>
              </a:lnSpc>
              <a:spcBef>
                <a:spcPct val="0"/>
              </a:spcBef>
            </a:pPr>
            <a:r>
              <a:rPr lang="en-US" sz="1876" spc="-3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Attention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138610" y="8894536"/>
            <a:ext cx="1095137" cy="36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  <a:spcBef>
                <a:spcPct val="0"/>
              </a:spcBef>
            </a:pPr>
            <a:r>
              <a:rPr lang="en-US" sz="1876" spc="-3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MLP Head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951161" y="7850228"/>
            <a:ext cx="2720878" cy="80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176" spc="-3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Prediction  mask + confidence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59988" y="6224697"/>
            <a:ext cx="1588294" cy="90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b="true" sz="2576" spc="-4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Input</a:t>
            </a:r>
          </a:p>
          <a:p>
            <a:pPr algn="ctr">
              <a:lnSpc>
                <a:spcPts val="3186"/>
              </a:lnSpc>
              <a:spcBef>
                <a:spcPct val="0"/>
              </a:spcBef>
            </a:pPr>
            <a:r>
              <a:rPr lang="en-US" sz="2276" spc="-3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1024 X 1024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45359" y="2702310"/>
            <a:ext cx="3140707" cy="219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backbone was completely frozen to preserve general image un</a:t>
            </a: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derstanding (shapes, textures, edges) and avoid catastrophic forgetting. This also saved significant A100/T4 VRAM the backbone is the largest part of the model.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47128" y="2212816"/>
            <a:ext cx="3704033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-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prompt encoder converts your bbox/point/text inputs into embeddings. It was kept frozen because the prompt representations are domain-agnostic — a bounding box means the same thing regardless of whether the image is natural or medical.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5400000">
            <a:off x="13400702" y="4389293"/>
            <a:ext cx="1200486" cy="1021505"/>
          </a:xfrm>
          <a:custGeom>
            <a:avLst/>
            <a:gdLst/>
            <a:ahLst/>
            <a:cxnLst/>
            <a:rect r="r" b="b" t="t" l="l"/>
            <a:pathLst>
              <a:path h="1021505" w="1200486">
                <a:moveTo>
                  <a:pt x="0" y="0"/>
                </a:moveTo>
                <a:lnTo>
                  <a:pt x="1200486" y="0"/>
                </a:lnTo>
                <a:lnTo>
                  <a:pt x="1200486" y="1021505"/>
                </a:lnTo>
                <a:lnTo>
                  <a:pt x="0" y="10215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375334" y="379982"/>
            <a:ext cx="1450300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5000" spc="-1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Method: SAM3 Architecture and Fine Tuning Strategy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9823" y="-10438214"/>
            <a:ext cx="18255991" cy="17857679"/>
          </a:xfrm>
          <a:custGeom>
            <a:avLst/>
            <a:gdLst/>
            <a:ahLst/>
            <a:cxnLst/>
            <a:rect r="r" b="b" t="t" l="l"/>
            <a:pathLst>
              <a:path h="17857679" w="18255991">
                <a:moveTo>
                  <a:pt x="0" y="0"/>
                </a:moveTo>
                <a:lnTo>
                  <a:pt x="18255992" y="0"/>
                </a:lnTo>
                <a:lnTo>
                  <a:pt x="18255992" y="17857679"/>
                </a:lnTo>
                <a:lnTo>
                  <a:pt x="0" y="17857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5365" y="4466088"/>
            <a:ext cx="16697270" cy="5196273"/>
            <a:chOff x="0" y="0"/>
            <a:chExt cx="22263026" cy="692836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6347417" y="0"/>
              <a:ext cx="4764084" cy="6928364"/>
              <a:chOff x="0" y="0"/>
              <a:chExt cx="941054" cy="136856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41054" cy="1368566"/>
              </a:xfrm>
              <a:custGeom>
                <a:avLst/>
                <a:gdLst/>
                <a:ahLst/>
                <a:cxnLst/>
                <a:rect r="r" b="b" t="t" l="l"/>
                <a:pathLst>
                  <a:path h="1368566" w="941054">
                    <a:moveTo>
                      <a:pt x="43335" y="0"/>
                    </a:moveTo>
                    <a:lnTo>
                      <a:pt x="897719" y="0"/>
                    </a:lnTo>
                    <a:cubicBezTo>
                      <a:pt x="909212" y="0"/>
                      <a:pt x="920234" y="4566"/>
                      <a:pt x="928361" y="12693"/>
                    </a:cubicBezTo>
                    <a:cubicBezTo>
                      <a:pt x="936488" y="20819"/>
                      <a:pt x="941054" y="31842"/>
                      <a:pt x="941054" y="43335"/>
                    </a:cubicBezTo>
                    <a:lnTo>
                      <a:pt x="941054" y="1325231"/>
                    </a:lnTo>
                    <a:cubicBezTo>
                      <a:pt x="941054" y="1349164"/>
                      <a:pt x="921652" y="1368566"/>
                      <a:pt x="897719" y="1368566"/>
                    </a:cubicBezTo>
                    <a:lnTo>
                      <a:pt x="43335" y="1368566"/>
                    </a:lnTo>
                    <a:cubicBezTo>
                      <a:pt x="19402" y="1368566"/>
                      <a:pt x="0" y="1349164"/>
                      <a:pt x="0" y="1325231"/>
                    </a:cubicBezTo>
                    <a:lnTo>
                      <a:pt x="0" y="43335"/>
                    </a:lnTo>
                    <a:cubicBezTo>
                      <a:pt x="0" y="19402"/>
                      <a:pt x="19402" y="0"/>
                      <a:pt x="43335" y="0"/>
                    </a:cubicBezTo>
                    <a:close/>
                  </a:path>
                </a:pathLst>
              </a:custGeom>
              <a:solidFill>
                <a:srgbClr val="FFFFFF">
                  <a:alpha val="37647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28575"/>
                <a:ext cx="941054" cy="1339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  <a:r>
                  <a:rPr lang="en-US" b="true" sz="2576" spc="-41">
                    <a:solidFill>
                      <a:srgbClr val="FFFFFF">
                        <a:alpha val="37647"/>
                      </a:srgbClr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Image Encod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7010228" y="1561802"/>
              <a:ext cx="3438462" cy="1003647"/>
              <a:chOff x="0" y="0"/>
              <a:chExt cx="679202" cy="19825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79202" cy="198251"/>
              </a:xfrm>
              <a:custGeom>
                <a:avLst/>
                <a:gdLst/>
                <a:ahLst/>
                <a:cxnLst/>
                <a:rect r="r" b="b" t="t" l="l"/>
                <a:pathLst>
                  <a:path h="198251" w="679202">
                    <a:moveTo>
                      <a:pt x="60042" y="0"/>
                    </a:moveTo>
                    <a:lnTo>
                      <a:pt x="619161" y="0"/>
                    </a:lnTo>
                    <a:cubicBezTo>
                      <a:pt x="635085" y="0"/>
                      <a:pt x="650357" y="6326"/>
                      <a:pt x="661617" y="17586"/>
                    </a:cubicBezTo>
                    <a:cubicBezTo>
                      <a:pt x="672877" y="28846"/>
                      <a:pt x="679202" y="44118"/>
                      <a:pt x="679202" y="60042"/>
                    </a:cubicBezTo>
                    <a:lnTo>
                      <a:pt x="679202" y="138210"/>
                    </a:lnTo>
                    <a:cubicBezTo>
                      <a:pt x="679202" y="171370"/>
                      <a:pt x="652321" y="198251"/>
                      <a:pt x="619161" y="198251"/>
                    </a:cubicBezTo>
                    <a:lnTo>
                      <a:pt x="60042" y="198251"/>
                    </a:lnTo>
                    <a:cubicBezTo>
                      <a:pt x="44118" y="198251"/>
                      <a:pt x="28846" y="191925"/>
                      <a:pt x="17586" y="180665"/>
                    </a:cubicBezTo>
                    <a:cubicBezTo>
                      <a:pt x="6326" y="169405"/>
                      <a:pt x="0" y="154134"/>
                      <a:pt x="0" y="138210"/>
                    </a:cubicBezTo>
                    <a:lnTo>
                      <a:pt x="0" y="60042"/>
                    </a:lnTo>
                    <a:cubicBezTo>
                      <a:pt x="0" y="44118"/>
                      <a:pt x="6326" y="28846"/>
                      <a:pt x="17586" y="17586"/>
                    </a:cubicBezTo>
                    <a:cubicBezTo>
                      <a:pt x="28846" y="6326"/>
                      <a:pt x="44118" y="0"/>
                      <a:pt x="60042" y="0"/>
                    </a:cubicBezTo>
                    <a:close/>
                  </a:path>
                </a:pathLst>
              </a:custGeom>
              <a:solidFill>
                <a:srgbClr val="FFFFFF">
                  <a:alpha val="37647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28575"/>
                <a:ext cx="679202" cy="16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7010228" y="2691824"/>
              <a:ext cx="3438462" cy="1003647"/>
              <a:chOff x="0" y="0"/>
              <a:chExt cx="679202" cy="19825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9202" cy="198251"/>
              </a:xfrm>
              <a:custGeom>
                <a:avLst/>
                <a:gdLst/>
                <a:ahLst/>
                <a:cxnLst/>
                <a:rect r="r" b="b" t="t" l="l"/>
                <a:pathLst>
                  <a:path h="198251" w="679202">
                    <a:moveTo>
                      <a:pt x="60042" y="0"/>
                    </a:moveTo>
                    <a:lnTo>
                      <a:pt x="619161" y="0"/>
                    </a:lnTo>
                    <a:cubicBezTo>
                      <a:pt x="635085" y="0"/>
                      <a:pt x="650357" y="6326"/>
                      <a:pt x="661617" y="17586"/>
                    </a:cubicBezTo>
                    <a:cubicBezTo>
                      <a:pt x="672877" y="28846"/>
                      <a:pt x="679202" y="44118"/>
                      <a:pt x="679202" y="60042"/>
                    </a:cubicBezTo>
                    <a:lnTo>
                      <a:pt x="679202" y="138210"/>
                    </a:lnTo>
                    <a:cubicBezTo>
                      <a:pt x="679202" y="171370"/>
                      <a:pt x="652321" y="198251"/>
                      <a:pt x="619161" y="198251"/>
                    </a:cubicBezTo>
                    <a:lnTo>
                      <a:pt x="60042" y="198251"/>
                    </a:lnTo>
                    <a:cubicBezTo>
                      <a:pt x="44118" y="198251"/>
                      <a:pt x="28846" y="191925"/>
                      <a:pt x="17586" y="180665"/>
                    </a:cubicBezTo>
                    <a:cubicBezTo>
                      <a:pt x="6326" y="169405"/>
                      <a:pt x="0" y="154134"/>
                      <a:pt x="0" y="138210"/>
                    </a:cubicBezTo>
                    <a:lnTo>
                      <a:pt x="0" y="60042"/>
                    </a:lnTo>
                    <a:cubicBezTo>
                      <a:pt x="0" y="44118"/>
                      <a:pt x="6326" y="28846"/>
                      <a:pt x="17586" y="17586"/>
                    </a:cubicBezTo>
                    <a:cubicBezTo>
                      <a:pt x="28846" y="6326"/>
                      <a:pt x="44118" y="0"/>
                      <a:pt x="60042" y="0"/>
                    </a:cubicBezTo>
                    <a:close/>
                  </a:path>
                </a:pathLst>
              </a:custGeom>
              <a:solidFill>
                <a:srgbClr val="FFFFFF">
                  <a:alpha val="37647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28575"/>
                <a:ext cx="679202" cy="16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7010228" y="3822471"/>
              <a:ext cx="3438462" cy="1003647"/>
              <a:chOff x="0" y="0"/>
              <a:chExt cx="679202" cy="19825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79202" cy="198251"/>
              </a:xfrm>
              <a:custGeom>
                <a:avLst/>
                <a:gdLst/>
                <a:ahLst/>
                <a:cxnLst/>
                <a:rect r="r" b="b" t="t" l="l"/>
                <a:pathLst>
                  <a:path h="198251" w="679202">
                    <a:moveTo>
                      <a:pt x="60042" y="0"/>
                    </a:moveTo>
                    <a:lnTo>
                      <a:pt x="619161" y="0"/>
                    </a:lnTo>
                    <a:cubicBezTo>
                      <a:pt x="635085" y="0"/>
                      <a:pt x="650357" y="6326"/>
                      <a:pt x="661617" y="17586"/>
                    </a:cubicBezTo>
                    <a:cubicBezTo>
                      <a:pt x="672877" y="28846"/>
                      <a:pt x="679202" y="44118"/>
                      <a:pt x="679202" y="60042"/>
                    </a:cubicBezTo>
                    <a:lnTo>
                      <a:pt x="679202" y="138210"/>
                    </a:lnTo>
                    <a:cubicBezTo>
                      <a:pt x="679202" y="171370"/>
                      <a:pt x="652321" y="198251"/>
                      <a:pt x="619161" y="198251"/>
                    </a:cubicBezTo>
                    <a:lnTo>
                      <a:pt x="60042" y="198251"/>
                    </a:lnTo>
                    <a:cubicBezTo>
                      <a:pt x="44118" y="198251"/>
                      <a:pt x="28846" y="191925"/>
                      <a:pt x="17586" y="180665"/>
                    </a:cubicBezTo>
                    <a:cubicBezTo>
                      <a:pt x="6326" y="169405"/>
                      <a:pt x="0" y="154134"/>
                      <a:pt x="0" y="138210"/>
                    </a:cubicBezTo>
                    <a:lnTo>
                      <a:pt x="0" y="60042"/>
                    </a:lnTo>
                    <a:cubicBezTo>
                      <a:pt x="0" y="44118"/>
                      <a:pt x="6326" y="28846"/>
                      <a:pt x="17586" y="17586"/>
                    </a:cubicBezTo>
                    <a:cubicBezTo>
                      <a:pt x="28846" y="6326"/>
                      <a:pt x="44118" y="0"/>
                      <a:pt x="60042" y="0"/>
                    </a:cubicBezTo>
                    <a:close/>
                  </a:path>
                </a:pathLst>
              </a:custGeom>
              <a:solidFill>
                <a:srgbClr val="FFFFFF">
                  <a:alpha val="37647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28575"/>
                <a:ext cx="679202" cy="16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010228" y="5383647"/>
              <a:ext cx="3438462" cy="1003647"/>
              <a:chOff x="0" y="0"/>
              <a:chExt cx="679202" cy="19825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9202" cy="198251"/>
              </a:xfrm>
              <a:custGeom>
                <a:avLst/>
                <a:gdLst/>
                <a:ahLst/>
                <a:cxnLst/>
                <a:rect r="r" b="b" t="t" l="l"/>
                <a:pathLst>
                  <a:path h="198251" w="679202">
                    <a:moveTo>
                      <a:pt x="60042" y="0"/>
                    </a:moveTo>
                    <a:lnTo>
                      <a:pt x="619161" y="0"/>
                    </a:lnTo>
                    <a:cubicBezTo>
                      <a:pt x="635085" y="0"/>
                      <a:pt x="650357" y="6326"/>
                      <a:pt x="661617" y="17586"/>
                    </a:cubicBezTo>
                    <a:cubicBezTo>
                      <a:pt x="672877" y="28846"/>
                      <a:pt x="679202" y="44118"/>
                      <a:pt x="679202" y="60042"/>
                    </a:cubicBezTo>
                    <a:lnTo>
                      <a:pt x="679202" y="138210"/>
                    </a:lnTo>
                    <a:cubicBezTo>
                      <a:pt x="679202" y="171370"/>
                      <a:pt x="652321" y="198251"/>
                      <a:pt x="619161" y="198251"/>
                    </a:cubicBezTo>
                    <a:lnTo>
                      <a:pt x="60042" y="198251"/>
                    </a:lnTo>
                    <a:cubicBezTo>
                      <a:pt x="44118" y="198251"/>
                      <a:pt x="28846" y="191925"/>
                      <a:pt x="17586" y="180665"/>
                    </a:cubicBezTo>
                    <a:cubicBezTo>
                      <a:pt x="6326" y="169405"/>
                      <a:pt x="0" y="154134"/>
                      <a:pt x="0" y="138210"/>
                    </a:cubicBezTo>
                    <a:lnTo>
                      <a:pt x="0" y="60042"/>
                    </a:lnTo>
                    <a:cubicBezTo>
                      <a:pt x="0" y="44118"/>
                      <a:pt x="6326" y="28846"/>
                      <a:pt x="17586" y="17586"/>
                    </a:cubicBezTo>
                    <a:cubicBezTo>
                      <a:pt x="28846" y="6326"/>
                      <a:pt x="44118" y="0"/>
                      <a:pt x="60042" y="0"/>
                    </a:cubicBezTo>
                    <a:close/>
                  </a:path>
                </a:pathLst>
              </a:custGeom>
              <a:solidFill>
                <a:srgbClr val="FF3131">
                  <a:alpha val="37647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28575"/>
                <a:ext cx="679202" cy="16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726669" y="461452"/>
              <a:ext cx="4005580" cy="644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Image Encoder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594952" y="1813436"/>
              <a:ext cx="2269014" cy="462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Patch Embed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35446" y="2720202"/>
              <a:ext cx="1988026" cy="862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Transformer 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Blocks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987223" y="4096118"/>
              <a:ext cx="1484471" cy="4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FPN Neck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993653" y="5556541"/>
              <a:ext cx="1471612" cy="60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Frozen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11826050" y="0"/>
              <a:ext cx="4764084" cy="2275715"/>
              <a:chOff x="0" y="0"/>
              <a:chExt cx="941054" cy="44952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41054" cy="449524"/>
              </a:xfrm>
              <a:custGeom>
                <a:avLst/>
                <a:gdLst/>
                <a:ahLst/>
                <a:cxnLst/>
                <a:rect r="r" b="b" t="t" l="l"/>
                <a:pathLst>
                  <a:path h="449524" w="941054">
                    <a:moveTo>
                      <a:pt x="43335" y="0"/>
                    </a:moveTo>
                    <a:lnTo>
                      <a:pt x="897719" y="0"/>
                    </a:lnTo>
                    <a:cubicBezTo>
                      <a:pt x="909212" y="0"/>
                      <a:pt x="920234" y="4566"/>
                      <a:pt x="928361" y="12693"/>
                    </a:cubicBezTo>
                    <a:cubicBezTo>
                      <a:pt x="936488" y="20819"/>
                      <a:pt x="941054" y="31842"/>
                      <a:pt x="941054" y="43335"/>
                    </a:cubicBezTo>
                    <a:lnTo>
                      <a:pt x="941054" y="406189"/>
                    </a:lnTo>
                    <a:cubicBezTo>
                      <a:pt x="941054" y="430122"/>
                      <a:pt x="921652" y="449524"/>
                      <a:pt x="897719" y="449524"/>
                    </a:cubicBezTo>
                    <a:lnTo>
                      <a:pt x="43335" y="449524"/>
                    </a:lnTo>
                    <a:cubicBezTo>
                      <a:pt x="19402" y="449524"/>
                      <a:pt x="0" y="430122"/>
                      <a:pt x="0" y="406189"/>
                    </a:cubicBezTo>
                    <a:lnTo>
                      <a:pt x="0" y="43335"/>
                    </a:lnTo>
                    <a:cubicBezTo>
                      <a:pt x="0" y="19402"/>
                      <a:pt x="19402" y="0"/>
                      <a:pt x="43335" y="0"/>
                    </a:cubicBezTo>
                    <a:close/>
                  </a:path>
                </a:pathLst>
              </a:custGeom>
              <a:solidFill>
                <a:srgbClr val="4A7FF7">
                  <a:alpha val="37647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41054" cy="4209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826050" y="2592503"/>
              <a:ext cx="4764084" cy="4197583"/>
              <a:chOff x="0" y="0"/>
              <a:chExt cx="941054" cy="82915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41054" cy="829152"/>
              </a:xfrm>
              <a:custGeom>
                <a:avLst/>
                <a:gdLst/>
                <a:ahLst/>
                <a:cxnLst/>
                <a:rect r="r" b="b" t="t" l="l"/>
                <a:pathLst>
                  <a:path h="829152" w="941054">
                    <a:moveTo>
                      <a:pt x="43335" y="0"/>
                    </a:moveTo>
                    <a:lnTo>
                      <a:pt x="897719" y="0"/>
                    </a:lnTo>
                    <a:cubicBezTo>
                      <a:pt x="909212" y="0"/>
                      <a:pt x="920234" y="4566"/>
                      <a:pt x="928361" y="12693"/>
                    </a:cubicBezTo>
                    <a:cubicBezTo>
                      <a:pt x="936488" y="20819"/>
                      <a:pt x="941054" y="31842"/>
                      <a:pt x="941054" y="43335"/>
                    </a:cubicBezTo>
                    <a:lnTo>
                      <a:pt x="941054" y="785817"/>
                    </a:lnTo>
                    <a:cubicBezTo>
                      <a:pt x="941054" y="809750"/>
                      <a:pt x="921652" y="829152"/>
                      <a:pt x="897719" y="829152"/>
                    </a:cubicBezTo>
                    <a:lnTo>
                      <a:pt x="43335" y="829152"/>
                    </a:lnTo>
                    <a:cubicBezTo>
                      <a:pt x="19402" y="829152"/>
                      <a:pt x="0" y="809750"/>
                      <a:pt x="0" y="785817"/>
                    </a:cubicBezTo>
                    <a:lnTo>
                      <a:pt x="0" y="43335"/>
                    </a:lnTo>
                    <a:cubicBezTo>
                      <a:pt x="0" y="19402"/>
                      <a:pt x="19402" y="0"/>
                      <a:pt x="43335" y="0"/>
                    </a:cubicBezTo>
                    <a:close/>
                  </a:path>
                </a:pathLst>
              </a:custGeom>
              <a:solidFill>
                <a:srgbClr val="9EFF1F">
                  <a:alpha val="37647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41054" cy="8005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2562649" y="4189471"/>
              <a:ext cx="3438462" cy="1116624"/>
              <a:chOff x="0" y="0"/>
              <a:chExt cx="679202" cy="22056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79202" cy="220568"/>
              </a:xfrm>
              <a:custGeom>
                <a:avLst/>
                <a:gdLst/>
                <a:ahLst/>
                <a:cxnLst/>
                <a:rect r="r" b="b" t="t" l="l"/>
                <a:pathLst>
                  <a:path h="220568" w="679202">
                    <a:moveTo>
                      <a:pt x="60042" y="0"/>
                    </a:moveTo>
                    <a:lnTo>
                      <a:pt x="619161" y="0"/>
                    </a:lnTo>
                    <a:cubicBezTo>
                      <a:pt x="635085" y="0"/>
                      <a:pt x="650357" y="6326"/>
                      <a:pt x="661617" y="17586"/>
                    </a:cubicBezTo>
                    <a:cubicBezTo>
                      <a:pt x="672877" y="28846"/>
                      <a:pt x="679202" y="44118"/>
                      <a:pt x="679202" y="60042"/>
                    </a:cubicBezTo>
                    <a:lnTo>
                      <a:pt x="679202" y="160526"/>
                    </a:lnTo>
                    <a:cubicBezTo>
                      <a:pt x="679202" y="176450"/>
                      <a:pt x="672877" y="191722"/>
                      <a:pt x="661617" y="202982"/>
                    </a:cubicBezTo>
                    <a:cubicBezTo>
                      <a:pt x="650357" y="214242"/>
                      <a:pt x="635085" y="220568"/>
                      <a:pt x="619161" y="220568"/>
                    </a:cubicBezTo>
                    <a:lnTo>
                      <a:pt x="60042" y="220568"/>
                    </a:lnTo>
                    <a:cubicBezTo>
                      <a:pt x="44118" y="220568"/>
                      <a:pt x="28846" y="214242"/>
                      <a:pt x="17586" y="202982"/>
                    </a:cubicBezTo>
                    <a:cubicBezTo>
                      <a:pt x="6326" y="191722"/>
                      <a:pt x="0" y="176450"/>
                      <a:pt x="0" y="160526"/>
                    </a:cubicBezTo>
                    <a:lnTo>
                      <a:pt x="0" y="60042"/>
                    </a:lnTo>
                    <a:cubicBezTo>
                      <a:pt x="0" y="44118"/>
                      <a:pt x="6326" y="28846"/>
                      <a:pt x="17586" y="17586"/>
                    </a:cubicBezTo>
                    <a:cubicBezTo>
                      <a:pt x="28846" y="6326"/>
                      <a:pt x="44118" y="0"/>
                      <a:pt x="60042" y="0"/>
                    </a:cubicBezTo>
                    <a:close/>
                  </a:path>
                </a:pathLst>
              </a:custGeom>
              <a:solidFill>
                <a:srgbClr val="FFFFFF">
                  <a:alpha val="37647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679202" cy="1919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2636436" y="771907"/>
              <a:ext cx="3290888" cy="6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6"/>
                </a:lnSpc>
                <a:spcBef>
                  <a:spcPct val="0"/>
                </a:spcBef>
              </a:pPr>
              <a:r>
                <a:rPr lang="en-US" b="true" sz="2576" spc="-4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Prompt Encoder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2708174" y="2793432"/>
              <a:ext cx="3201194" cy="1189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6"/>
                </a:lnSpc>
                <a:spcBef>
                  <a:spcPct val="0"/>
                </a:spcBef>
              </a:pPr>
              <a:r>
                <a:rPr lang="en-US" b="true" sz="2576" spc="-4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Mask Decoder</a:t>
              </a:r>
            </a:p>
            <a:p>
              <a:pPr algn="ctr">
                <a:lnSpc>
                  <a:spcPts val="3326"/>
                </a:lnSpc>
                <a:spcBef>
                  <a:spcPct val="0"/>
                </a:spcBef>
              </a:pPr>
              <a:r>
                <a:rPr lang="en-US" sz="2376" spc="-38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Tracker + Decode</a:t>
              </a:r>
              <a:r>
                <a:rPr lang="en-US" b="true" sz="2376" spc="-38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12562649" y="5613691"/>
              <a:ext cx="3438462" cy="1003647"/>
              <a:chOff x="0" y="0"/>
              <a:chExt cx="679202" cy="19825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79202" cy="198251"/>
              </a:xfrm>
              <a:custGeom>
                <a:avLst/>
                <a:gdLst/>
                <a:ahLst/>
                <a:cxnLst/>
                <a:rect r="r" b="b" t="t" l="l"/>
                <a:pathLst>
                  <a:path h="198251" w="679202">
                    <a:moveTo>
                      <a:pt x="60042" y="0"/>
                    </a:moveTo>
                    <a:lnTo>
                      <a:pt x="619161" y="0"/>
                    </a:lnTo>
                    <a:cubicBezTo>
                      <a:pt x="635085" y="0"/>
                      <a:pt x="650357" y="6326"/>
                      <a:pt x="661617" y="17586"/>
                    </a:cubicBezTo>
                    <a:cubicBezTo>
                      <a:pt x="672877" y="28846"/>
                      <a:pt x="679202" y="44118"/>
                      <a:pt x="679202" y="60042"/>
                    </a:cubicBezTo>
                    <a:lnTo>
                      <a:pt x="679202" y="138210"/>
                    </a:lnTo>
                    <a:cubicBezTo>
                      <a:pt x="679202" y="171370"/>
                      <a:pt x="652321" y="198251"/>
                      <a:pt x="619161" y="198251"/>
                    </a:cubicBezTo>
                    <a:lnTo>
                      <a:pt x="60042" y="198251"/>
                    </a:lnTo>
                    <a:cubicBezTo>
                      <a:pt x="44118" y="198251"/>
                      <a:pt x="28846" y="191925"/>
                      <a:pt x="17586" y="180665"/>
                    </a:cubicBezTo>
                    <a:cubicBezTo>
                      <a:pt x="6326" y="169405"/>
                      <a:pt x="0" y="154134"/>
                      <a:pt x="0" y="138210"/>
                    </a:cubicBezTo>
                    <a:lnTo>
                      <a:pt x="0" y="60042"/>
                    </a:lnTo>
                    <a:cubicBezTo>
                      <a:pt x="0" y="44118"/>
                      <a:pt x="6326" y="28846"/>
                      <a:pt x="17586" y="17586"/>
                    </a:cubicBezTo>
                    <a:cubicBezTo>
                      <a:pt x="28846" y="6326"/>
                      <a:pt x="44118" y="0"/>
                      <a:pt x="60042" y="0"/>
                    </a:cubicBezTo>
                    <a:close/>
                  </a:path>
                </a:pathLst>
              </a:custGeom>
              <a:solidFill>
                <a:srgbClr val="FFFFFF">
                  <a:alpha val="37647"/>
                </a:srgbClr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8575"/>
                <a:ext cx="679202" cy="16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3576585" y="4258854"/>
              <a:ext cx="1263015" cy="901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6"/>
                </a:lnSpc>
                <a:spcBef>
                  <a:spcPct val="0"/>
                </a:spcBef>
              </a:pPr>
              <a:r>
                <a:rPr lang="en-US" sz="1876" spc="-3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Two way </a:t>
              </a:r>
            </a:p>
            <a:p>
              <a:pPr algn="ctr">
                <a:lnSpc>
                  <a:spcPts val="2626"/>
                </a:lnSpc>
                <a:spcBef>
                  <a:spcPct val="0"/>
                </a:spcBef>
              </a:pPr>
              <a:r>
                <a:rPr lang="en-US" sz="1876" spc="-3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Attention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3551789" y="5848836"/>
              <a:ext cx="1460182" cy="45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6"/>
                </a:lnSpc>
                <a:spcBef>
                  <a:spcPct val="0"/>
                </a:spcBef>
              </a:pPr>
              <a:r>
                <a:rPr lang="en-US" sz="1876" spc="-3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MLP Head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2296676"/>
              <a:ext cx="3627837" cy="1274182"/>
              <a:chOff x="0" y="0"/>
              <a:chExt cx="716610" cy="2516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16610" cy="251690"/>
              </a:xfrm>
              <a:custGeom>
                <a:avLst/>
                <a:gdLst/>
                <a:ahLst/>
                <a:cxnLst/>
                <a:rect r="r" b="b" t="t" l="l"/>
                <a:pathLst>
                  <a:path h="251690" w="716610">
                    <a:moveTo>
                      <a:pt x="56908" y="0"/>
                    </a:moveTo>
                    <a:lnTo>
                      <a:pt x="659702" y="0"/>
                    </a:lnTo>
                    <a:cubicBezTo>
                      <a:pt x="674795" y="0"/>
                      <a:pt x="689270" y="5996"/>
                      <a:pt x="699942" y="16668"/>
                    </a:cubicBezTo>
                    <a:cubicBezTo>
                      <a:pt x="710614" y="27340"/>
                      <a:pt x="716610" y="41815"/>
                      <a:pt x="716610" y="56908"/>
                    </a:cubicBezTo>
                    <a:lnTo>
                      <a:pt x="716610" y="194783"/>
                    </a:lnTo>
                    <a:cubicBezTo>
                      <a:pt x="716610" y="226212"/>
                      <a:pt x="691131" y="251690"/>
                      <a:pt x="659702" y="251690"/>
                    </a:cubicBezTo>
                    <a:lnTo>
                      <a:pt x="56908" y="251690"/>
                    </a:lnTo>
                    <a:cubicBezTo>
                      <a:pt x="25478" y="251690"/>
                      <a:pt x="0" y="226212"/>
                      <a:pt x="0" y="194783"/>
                    </a:cubicBezTo>
                    <a:lnTo>
                      <a:pt x="0" y="56908"/>
                    </a:lnTo>
                    <a:cubicBezTo>
                      <a:pt x="0" y="25478"/>
                      <a:pt x="25478" y="0"/>
                      <a:pt x="56908" y="0"/>
                    </a:cubicBezTo>
                    <a:close/>
                  </a:path>
                </a:pathLst>
              </a:custGeom>
              <a:solidFill>
                <a:srgbClr val="FFDE59">
                  <a:alpha val="37647"/>
                </a:srgbClr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28575"/>
                <a:ext cx="716610" cy="2231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8635189" y="4392083"/>
              <a:ext cx="3627837" cy="1274182"/>
              <a:chOff x="0" y="0"/>
              <a:chExt cx="716610" cy="25169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16610" cy="251690"/>
              </a:xfrm>
              <a:custGeom>
                <a:avLst/>
                <a:gdLst/>
                <a:ahLst/>
                <a:cxnLst/>
                <a:rect r="r" b="b" t="t" l="l"/>
                <a:pathLst>
                  <a:path h="251690" w="716610">
                    <a:moveTo>
                      <a:pt x="56908" y="0"/>
                    </a:moveTo>
                    <a:lnTo>
                      <a:pt x="659702" y="0"/>
                    </a:lnTo>
                    <a:cubicBezTo>
                      <a:pt x="674795" y="0"/>
                      <a:pt x="689270" y="5996"/>
                      <a:pt x="699942" y="16668"/>
                    </a:cubicBezTo>
                    <a:cubicBezTo>
                      <a:pt x="710614" y="27340"/>
                      <a:pt x="716610" y="41815"/>
                      <a:pt x="716610" y="56908"/>
                    </a:cubicBezTo>
                    <a:lnTo>
                      <a:pt x="716610" y="194783"/>
                    </a:lnTo>
                    <a:cubicBezTo>
                      <a:pt x="716610" y="226212"/>
                      <a:pt x="691131" y="251690"/>
                      <a:pt x="659702" y="251690"/>
                    </a:cubicBezTo>
                    <a:lnTo>
                      <a:pt x="56908" y="251690"/>
                    </a:lnTo>
                    <a:cubicBezTo>
                      <a:pt x="25478" y="251690"/>
                      <a:pt x="0" y="226212"/>
                      <a:pt x="0" y="194783"/>
                    </a:cubicBezTo>
                    <a:lnTo>
                      <a:pt x="0" y="56908"/>
                    </a:lnTo>
                    <a:cubicBezTo>
                      <a:pt x="0" y="25478"/>
                      <a:pt x="25478" y="0"/>
                      <a:pt x="56908" y="0"/>
                    </a:cubicBezTo>
                    <a:close/>
                  </a:path>
                </a:pathLst>
              </a:custGeom>
              <a:solidFill>
                <a:srgbClr val="5ACFBE">
                  <a:alpha val="37647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28575"/>
                <a:ext cx="716610" cy="2231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7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8635189" y="4462776"/>
              <a:ext cx="3627837" cy="1037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6"/>
                </a:lnSpc>
                <a:spcBef>
                  <a:spcPct val="0"/>
                </a:spcBef>
              </a:pPr>
              <a:r>
                <a:rPr lang="en-US" b="true" sz="2176" spc="-34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Prediction  mask + confidence</a:t>
              </a:r>
            </a:p>
          </p:txBody>
        </p:sp>
        <p:sp>
          <p:nvSpPr>
            <p:cNvPr name="Freeform 47" id="47"/>
            <p:cNvSpPr/>
            <p:nvPr/>
          </p:nvSpPr>
          <p:spPr>
            <a:xfrm flipH="false" flipV="false" rot="0">
              <a:off x="11087255" y="4392083"/>
              <a:ext cx="763041" cy="216426"/>
            </a:xfrm>
            <a:custGeom>
              <a:avLst/>
              <a:gdLst/>
              <a:ahLst/>
              <a:cxnLst/>
              <a:rect r="r" b="b" t="t" l="l"/>
              <a:pathLst>
                <a:path h="216426" w="763041">
                  <a:moveTo>
                    <a:pt x="0" y="0"/>
                  </a:moveTo>
                  <a:lnTo>
                    <a:pt x="763041" y="0"/>
                  </a:lnTo>
                  <a:lnTo>
                    <a:pt x="763041" y="216426"/>
                  </a:lnTo>
                  <a:lnTo>
                    <a:pt x="0" y="21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755056" y="2298577"/>
              <a:ext cx="2117725" cy="116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6"/>
                </a:lnSpc>
                <a:spcBef>
                  <a:spcPct val="0"/>
                </a:spcBef>
              </a:pPr>
              <a:r>
                <a:rPr lang="en-US" b="true" sz="2576" spc="-4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Input</a:t>
              </a:r>
            </a:p>
            <a:p>
              <a:pPr algn="ctr">
                <a:lnSpc>
                  <a:spcPts val="3186"/>
                </a:lnSpc>
                <a:spcBef>
                  <a:spcPct val="0"/>
                </a:spcBef>
              </a:pPr>
              <a:r>
                <a:rPr lang="en-US" sz="2276" spc="-3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1024 X 1024</a:t>
              </a:r>
            </a:p>
          </p:txBody>
        </p:sp>
        <p:sp>
          <p:nvSpPr>
            <p:cNvPr name="Freeform 49" id="49"/>
            <p:cNvSpPr/>
            <p:nvPr/>
          </p:nvSpPr>
          <p:spPr>
            <a:xfrm flipH="false" flipV="false" rot="5470148">
              <a:off x="13671164" y="2295139"/>
              <a:ext cx="763041" cy="216426"/>
            </a:xfrm>
            <a:custGeom>
              <a:avLst/>
              <a:gdLst/>
              <a:ahLst/>
              <a:cxnLst/>
              <a:rect r="r" b="b" t="t" l="l"/>
              <a:pathLst>
                <a:path h="216426" w="763041">
                  <a:moveTo>
                    <a:pt x="0" y="0"/>
                  </a:moveTo>
                  <a:lnTo>
                    <a:pt x="763040" y="0"/>
                  </a:lnTo>
                  <a:lnTo>
                    <a:pt x="763040" y="216426"/>
                  </a:lnTo>
                  <a:lnTo>
                    <a:pt x="0" y="21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3996137" y="2586142"/>
              <a:ext cx="1983219" cy="562513"/>
            </a:xfrm>
            <a:custGeom>
              <a:avLst/>
              <a:gdLst/>
              <a:ahLst/>
              <a:cxnLst/>
              <a:rect r="r" b="b" t="t" l="l"/>
              <a:pathLst>
                <a:path h="562513" w="1983219">
                  <a:moveTo>
                    <a:pt x="0" y="0"/>
                  </a:moveTo>
                  <a:lnTo>
                    <a:pt x="1983219" y="0"/>
                  </a:lnTo>
                  <a:lnTo>
                    <a:pt x="1983219" y="562513"/>
                  </a:lnTo>
                  <a:lnTo>
                    <a:pt x="0" y="562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6817814" y="4803726"/>
              <a:ext cx="1589696" cy="450895"/>
            </a:xfrm>
            <a:custGeom>
              <a:avLst/>
              <a:gdLst/>
              <a:ahLst/>
              <a:cxnLst/>
              <a:rect r="r" b="b" t="t" l="l"/>
              <a:pathLst>
                <a:path h="450895" w="1589696">
                  <a:moveTo>
                    <a:pt x="0" y="0"/>
                  </a:moveTo>
                  <a:lnTo>
                    <a:pt x="1589696" y="0"/>
                  </a:lnTo>
                  <a:lnTo>
                    <a:pt x="1589696" y="450896"/>
                  </a:lnTo>
                  <a:lnTo>
                    <a:pt x="0" y="45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1849125" y="1117622"/>
            <a:ext cx="5410175" cy="2970678"/>
          </a:xfrm>
          <a:custGeom>
            <a:avLst/>
            <a:gdLst/>
            <a:ahLst/>
            <a:cxnLst/>
            <a:rect r="r" b="b" t="t" l="l"/>
            <a:pathLst>
              <a:path h="2970678" w="5410175">
                <a:moveTo>
                  <a:pt x="0" y="0"/>
                </a:moveTo>
                <a:lnTo>
                  <a:pt x="5410175" y="0"/>
                </a:lnTo>
                <a:lnTo>
                  <a:pt x="5410175" y="2970678"/>
                </a:lnTo>
                <a:lnTo>
                  <a:pt x="0" y="2970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2065375" y="1355186"/>
            <a:ext cx="4977676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spc="-2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</a:t>
            </a:r>
            <a:r>
              <a:rPr lang="en-US" sz="1500" spc="-2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decoder-only fine-tuning strategy was executed utilizing bfloat16 precision. By systematically bypassing SAM-3’s default inference locks, the mask decoder layers were isolated and trained over 25 epochs using an AdamW optimizer and Cosine Annealing. To maximize clinical accuracy, a combined Dice and Binary Cross-Entropy (BCE) loss was applied directly to the highest-scoring mask candidate, ensuring strict pixel-level precision and optimal boundary overlap.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5400000">
            <a:off x="13339029" y="4659767"/>
            <a:ext cx="2598137" cy="2210778"/>
          </a:xfrm>
          <a:custGeom>
            <a:avLst/>
            <a:gdLst/>
            <a:ahLst/>
            <a:cxnLst/>
            <a:rect r="r" b="b" t="t" l="l"/>
            <a:pathLst>
              <a:path h="2210778" w="2598137">
                <a:moveTo>
                  <a:pt x="0" y="0"/>
                </a:moveTo>
                <a:lnTo>
                  <a:pt x="2598136" y="0"/>
                </a:lnTo>
                <a:lnTo>
                  <a:pt x="2598136" y="2210778"/>
                </a:lnTo>
                <a:lnTo>
                  <a:pt x="0" y="2210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426093" y="95273"/>
            <a:ext cx="10111078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-8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Method: SAM3 Architecture and Fine Tuning Strategy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53470" y="-1069364"/>
            <a:ext cx="18255991" cy="17857679"/>
          </a:xfrm>
          <a:custGeom>
            <a:avLst/>
            <a:gdLst/>
            <a:ahLst/>
            <a:cxnLst/>
            <a:rect r="r" b="b" t="t" l="l"/>
            <a:pathLst>
              <a:path h="17857679" w="18255991">
                <a:moveTo>
                  <a:pt x="0" y="0"/>
                </a:moveTo>
                <a:lnTo>
                  <a:pt x="18255991" y="0"/>
                </a:lnTo>
                <a:lnTo>
                  <a:pt x="18255991" y="17857679"/>
                </a:lnTo>
                <a:lnTo>
                  <a:pt x="0" y="17857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2984" y="5383350"/>
            <a:ext cx="15494513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00"/>
              </a:lnSpc>
              <a:spcBef>
                <a:spcPct val="0"/>
              </a:spcBef>
            </a:pPr>
            <a:r>
              <a:rPr lang="en-US" sz="15000" spc="-5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Helvetica World"/>
                <a:ea typeface="Helvetica World"/>
                <a:cs typeface="Helvetica World"/>
                <a:sym typeface="Helvetica World"/>
              </a:rPr>
              <a:t>Exprimental Analysis: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74274" y="-1039266"/>
            <a:ext cx="10523335" cy="1247119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04828" y="-1029409"/>
            <a:ext cx="10521543" cy="124604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295966" y="-1048227"/>
            <a:ext cx="10795003" cy="124711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499912"/>
            <a:ext cx="18288000" cy="903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spc="-1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               </a:t>
            </a:r>
            <a:r>
              <a:rPr lang="en-US" sz="6399" spc="-1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Conclusion &amp; Clinical Implications</a:t>
            </a:r>
          </a:p>
          <a:p>
            <a:pPr algn="l">
              <a:lnSpc>
                <a:spcPts val="3606"/>
              </a:lnSpc>
            </a:pPr>
          </a:p>
          <a:p>
            <a:pPr algn="l">
              <a:lnSpc>
                <a:spcPts val="3606"/>
              </a:lnSpc>
            </a:pPr>
            <a:r>
              <a:rPr lang="en-US" b="true" sz="2576" spc="-4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 </a:t>
            </a:r>
            <a:r>
              <a:rPr lang="en-US" sz="2576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1. Bridging the Domain Gap</a:t>
            </a:r>
          </a:p>
          <a:p>
            <a:pPr algn="l">
              <a:lnSpc>
                <a:spcPts val="3606"/>
              </a:lnSpc>
            </a:pPr>
          </a:p>
          <a:p>
            <a:pPr algn="l" marL="556216" indent="-278108" lvl="1">
              <a:lnSpc>
                <a:spcPts val="3606"/>
              </a:lnSpc>
              <a:buFont typeface="Arial"/>
              <a:buChar char="•"/>
            </a:pPr>
            <a:r>
              <a:rPr lang="en-US" sz="2576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Conclusion: Relying on out-of-the-box foundation models for specialized medical tasks is insufficient. However, lightweight, decoder-only fine-tuning can bridges this gap.</a:t>
            </a:r>
          </a:p>
          <a:p>
            <a:pPr algn="l">
              <a:lnSpc>
                <a:spcPts val="3606"/>
              </a:lnSpc>
            </a:pPr>
          </a:p>
          <a:p>
            <a:pPr algn="l">
              <a:lnSpc>
                <a:spcPts val="3606"/>
              </a:lnSpc>
            </a:pPr>
            <a:r>
              <a:rPr lang="en-US" sz="2576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     2. The Power of the Point Prompt </a:t>
            </a:r>
          </a:p>
          <a:p>
            <a:pPr algn="l">
              <a:lnSpc>
                <a:spcPts val="3606"/>
              </a:lnSpc>
            </a:pPr>
          </a:p>
          <a:p>
            <a:pPr algn="l" marL="556216" indent="-278108" lvl="1">
              <a:lnSpc>
                <a:spcPts val="3606"/>
              </a:lnSpc>
              <a:buFont typeface="Arial"/>
              <a:buChar char="•"/>
            </a:pPr>
            <a:r>
              <a:rPr lang="en-US" sz="2576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Discussion: The most significant breakthrough was rescuing the single-point prompt (from 93% failure down to 0.5%). This proves that AI can enable a "single-click" workflow for dermatologists, drastically reducing manual annotation time without sacrificing accuracy.</a:t>
            </a:r>
          </a:p>
          <a:p>
            <a:pPr algn="l">
              <a:lnSpc>
                <a:spcPts val="3606"/>
              </a:lnSpc>
            </a:pPr>
          </a:p>
          <a:p>
            <a:pPr algn="l">
              <a:lnSpc>
                <a:spcPts val="3606"/>
              </a:lnSpc>
            </a:pPr>
            <a:r>
              <a:rPr lang="en-US" sz="2576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     3. Architectural Reflection</a:t>
            </a:r>
          </a:p>
          <a:p>
            <a:pPr algn="l">
              <a:lnSpc>
                <a:spcPts val="3606"/>
              </a:lnSpc>
            </a:pPr>
          </a:p>
          <a:p>
            <a:pPr algn="l" marL="556216" indent="-278108" lvl="1">
              <a:lnSpc>
                <a:spcPts val="3606"/>
              </a:lnSpc>
              <a:buFont typeface="Arial"/>
              <a:buChar char="•"/>
            </a:pPr>
            <a:r>
              <a:rPr lang="en-US" sz="2576" spc="-4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Discussion: Our baseline anomaly (SAM-2 outperforming SAM-3) highlights the "Alignment Tax." As foundation models are heavily optimized for commercial video and natural images, they regress on complex medical data. Domain-specific adaptation will remain a mandatory step for medical AI.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865" y="4497593"/>
            <a:ext cx="19285264" cy="20692538"/>
          </a:xfrm>
          <a:custGeom>
            <a:avLst/>
            <a:gdLst/>
            <a:ahLst/>
            <a:cxnLst/>
            <a:rect r="r" b="b" t="t" l="l"/>
            <a:pathLst>
              <a:path h="20692538" w="19285264">
                <a:moveTo>
                  <a:pt x="0" y="0"/>
                </a:moveTo>
                <a:lnTo>
                  <a:pt x="19285264" y="0"/>
                </a:lnTo>
                <a:lnTo>
                  <a:pt x="19285264" y="20692538"/>
                </a:lnTo>
                <a:lnTo>
                  <a:pt x="0" y="20692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45" t="0" r="-48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94834">
            <a:off x="-9764043" y="-13301025"/>
            <a:ext cx="21819856" cy="18864494"/>
          </a:xfrm>
          <a:custGeom>
            <a:avLst/>
            <a:gdLst/>
            <a:ahLst/>
            <a:cxnLst/>
            <a:rect r="r" b="b" t="t" l="l"/>
            <a:pathLst>
              <a:path h="18864494" w="21819856">
                <a:moveTo>
                  <a:pt x="0" y="0"/>
                </a:moveTo>
                <a:lnTo>
                  <a:pt x="21819856" y="0"/>
                </a:lnTo>
                <a:lnTo>
                  <a:pt x="21819856" y="18864494"/>
                </a:lnTo>
                <a:lnTo>
                  <a:pt x="0" y="18864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71" r="0" b="-657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28055" y="3837857"/>
            <a:ext cx="8115300" cy="316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22"/>
              </a:lnSpc>
            </a:pPr>
            <a:r>
              <a:rPr lang="en-US" sz="14653" spc="-512">
                <a:solidFill>
                  <a:srgbClr val="FFFFFF"/>
                </a:solidFill>
                <a:latin typeface="Finger Paint"/>
                <a:ea typeface="Finger Paint"/>
                <a:cs typeface="Finger Paint"/>
                <a:sym typeface="Finger Paint"/>
              </a:rPr>
              <a:t>Thank</a:t>
            </a:r>
          </a:p>
          <a:p>
            <a:pPr algn="l">
              <a:lnSpc>
                <a:spcPts val="11722"/>
              </a:lnSpc>
            </a:pPr>
            <a:r>
              <a:rPr lang="en-US" sz="14653" spc="-512">
                <a:solidFill>
                  <a:srgbClr val="FFFFFF"/>
                </a:solidFill>
                <a:latin typeface="Finger Paint"/>
                <a:ea typeface="Finger Paint"/>
                <a:cs typeface="Finger Paint"/>
                <a:sym typeface="Finger Paint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DAHHbQfhYE4</dc:identifier>
  <dcterms:modified xsi:type="dcterms:W3CDTF">2011-08-01T06:04:30Z</dcterms:modified>
  <cp:revision>1</cp:revision>
  <dc:title>Medical Presentation.</dc:title>
</cp:coreProperties>
</file>